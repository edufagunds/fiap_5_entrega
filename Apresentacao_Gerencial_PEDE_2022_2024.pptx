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PEDE — Analytics 2022–2024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Storytelling gerencial + diagnóstico multidimensional +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Mensagem executiva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Defasagem &lt;0: 69,9% → 54,4% → 46,2%.</a:t>
            </a:r>
          </a:p>
          <a:p>
            <a:pPr>
              <a:spcAft>
                <a:spcPts val="1000"/>
              </a:spcAft>
              <a:defRPr sz="1900"/>
            </a:pPr>
            <a:r>
              <a:t>Defasagem &lt;= -2: 22,2% → 14,2% → 8,0%; severa &lt;= -3: 3,3% → 1,4% → 0,3%.</a:t>
            </a:r>
          </a:p>
          <a:p>
            <a:pPr>
              <a:spcAft>
                <a:spcPts val="1000"/>
              </a:spcAft>
              <a:defRPr sz="1900"/>
            </a:pPr>
            <a:r>
              <a:t>IAN: 6,42 → 7,24 → 7,68.</a:t>
            </a:r>
          </a:p>
          <a:p>
            <a:pPr>
              <a:spcAft>
                <a:spcPts val="1000"/>
              </a:spcAft>
              <a:defRPr sz="1900"/>
            </a:pPr>
            <a:r>
              <a:t>IDA e IEG avançam em 2023, mas recuam em 2024; o INDE não captura sozinho essa deterioração.</a:t>
            </a:r>
          </a:p>
          <a:p>
            <a:pPr>
              <a:spcAft>
                <a:spcPts val="1000"/>
              </a:spcAft>
              <a:defRPr sz="1900"/>
            </a:pPr>
            <a:r>
              <a:t>Modelo temporal: AUC ≈ 0,71; threshold de 30% captura cerca de 62% dos casos que entram em risco.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Defasagem: o problema está diminuindo</a:t>
            </a:r>
          </a:p>
        </p:txBody>
      </p:sp>
      <p:pic>
        <p:nvPicPr>
          <p:cNvPr id="3" name="Picture 2" descr="02_defas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75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5240" y="1417320"/>
            <a:ext cx="3977639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A queda é consistente nos três ciclos.</a:t>
            </a:r>
          </a:p>
          <a:p>
            <a:pPr>
              <a:spcAft>
                <a:spcPts val="1000"/>
              </a:spcAft>
              <a:defRPr sz="1600"/>
            </a:pPr>
            <a:r>
              <a:t>Em 2024, 534/1.156 alunos têm alguma defasagem.</a:t>
            </a:r>
          </a:p>
          <a:p>
            <a:pPr>
              <a:spcAft>
                <a:spcPts val="1000"/>
              </a:spcAft>
              <a:defRPr sz="1600"/>
            </a:pPr>
            <a:r>
              <a:t>Casos severos caem para apenas 3 alunos.</a:t>
            </a:r>
          </a:p>
          <a:p>
            <a:pPr>
              <a:spcAft>
                <a:spcPts val="1000"/>
              </a:spcAft>
              <a:defRPr sz="1600"/>
            </a:pPr>
            <a:r>
              <a:t>Severidade é uma regra analítica criada neste estudo.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IAN melhora, mas IDA/IEG pedem atenção</a:t>
            </a:r>
          </a:p>
        </p:txBody>
      </p:sp>
      <p:pic>
        <p:nvPicPr>
          <p:cNvPr id="3" name="Picture 2" descr="03_desempen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75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5240" y="1417320"/>
            <a:ext cx="3977639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IAN melhora continuamente.</a:t>
            </a:r>
          </a:p>
          <a:p>
            <a:pPr>
              <a:spcAft>
                <a:spcPts val="1000"/>
              </a:spcAft>
              <a:defRPr sz="1600"/>
            </a:pPr>
            <a:r>
              <a:t>IDA: 6,09 → 6,66 → 6,35.</a:t>
            </a:r>
          </a:p>
          <a:p>
            <a:pPr>
              <a:spcAft>
                <a:spcPts val="1000"/>
              </a:spcAft>
              <a:defRPr sz="1600"/>
            </a:pPr>
            <a:r>
              <a:t>IEG: 7,89 → 8,70 → 7,37.</a:t>
            </a:r>
          </a:p>
          <a:p>
            <a:pPr>
              <a:spcAft>
                <a:spcPts val="1000"/>
              </a:spcAft>
              <a:defRPr sz="1600"/>
            </a:pPr>
            <a:r>
              <a:t>INDE sobe levemente, podendo esconder quedas em componentes.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Engajamento é um sinal relevante</a:t>
            </a:r>
          </a:p>
        </p:txBody>
      </p:sp>
      <p:pic>
        <p:nvPicPr>
          <p:cNvPr id="3" name="Picture 2" descr="04_ieg_rel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75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5240" y="1417320"/>
            <a:ext cx="3977639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IEG–IDA é positivo nos três anos.</a:t>
            </a:r>
          </a:p>
          <a:p>
            <a:pPr>
              <a:spcAft>
                <a:spcPts val="1000"/>
              </a:spcAft>
              <a:defRPr sz="1600"/>
            </a:pPr>
            <a:r>
              <a:t>IEG–IPV também é positivo.</a:t>
            </a:r>
          </a:p>
          <a:p>
            <a:pPr>
              <a:spcAft>
                <a:spcPts val="1000"/>
              </a:spcAft>
              <a:defRPr sz="1600"/>
            </a:pPr>
            <a:r>
              <a:t>Monitorar quedas de IEG pode antecipar atenção acadêmica.</a:t>
            </a:r>
          </a:p>
          <a:p>
            <a:pPr>
              <a:spcAft>
                <a:spcPts val="1000"/>
              </a:spcAft>
              <a:defRPr sz="1600"/>
            </a:pPr>
            <a:r>
              <a:t>Associação não significa causalidade.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Autoavaliação: gap entre percepção e desempenho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Em 2024, IAA – IDA = +2,19 pontos em média.</a:t>
            </a:r>
          </a:p>
          <a:p>
            <a:pPr>
              <a:spcAft>
                <a:spcPts val="1000"/>
              </a:spcAft>
              <a:defRPr sz="2000"/>
            </a:pPr>
            <a:r>
              <a:t>47,6% dos alunos têm IAA pelo menos 2 pontos acima do IDA.</a:t>
            </a:r>
          </a:p>
          <a:p>
            <a:pPr>
              <a:spcAft>
                <a:spcPts val="1000"/>
              </a:spcAft>
              <a:defRPr sz="2000"/>
            </a:pPr>
            <a:r>
              <a:t>O gap é oportunidade para trabalhar autorregulação e feedback.</a:t>
            </a:r>
          </a:p>
          <a:p>
            <a:pPr>
              <a:spcAft>
                <a:spcPts val="1000"/>
              </a:spcAft>
              <a:defRPr sz="2000"/>
            </a:pPr>
            <a:r>
              <a:t>IAA deve complementar, e não substituir, o desempenho observado.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IPS e IPP: contexto, não gatilho isolado</a:t>
            </a:r>
          </a:p>
        </p:txBody>
      </p:sp>
      <p:pic>
        <p:nvPicPr>
          <p:cNvPr id="3" name="Picture 2" descr="05_ipp_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75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5240" y="1417320"/>
            <a:ext cx="3977639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Mudanças de IPS tiveram baixa associação com mudanças futuras de IDA/IEG.</a:t>
            </a:r>
          </a:p>
          <a:p>
            <a:pPr>
              <a:spcAft>
                <a:spcPts val="1000"/>
              </a:spcAft>
              <a:defRPr sz="1600"/>
            </a:pPr>
            <a:r>
              <a:t>IAN separa muito melhor os grupos de defasagem.</a:t>
            </a:r>
          </a:p>
          <a:p>
            <a:pPr>
              <a:spcAft>
                <a:spcPts val="1000"/>
              </a:spcAft>
              <a:defRPr sz="1600"/>
            </a:pPr>
            <a:r>
              <a:t>IPP agrega contexto psicopedagógico.</a:t>
            </a:r>
          </a:p>
          <a:p>
            <a:pPr>
              <a:spcAft>
                <a:spcPts val="1000"/>
              </a:spcAft>
              <a:defRPr sz="1600"/>
            </a:pPr>
            <a:r>
              <a:t>Recomendação: combinar sinais.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Ponto de virada é multidimensional</a:t>
            </a:r>
          </a:p>
        </p:txBody>
      </p:sp>
      <p:pic>
        <p:nvPicPr>
          <p:cNvPr id="3" name="Picture 2" descr="06_ipv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75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5240" y="1417320"/>
            <a:ext cx="3977639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IDA e IEG aparecem de forma consistente associados ao IPV.</a:t>
            </a:r>
          </a:p>
          <a:p>
            <a:pPr>
              <a:spcAft>
                <a:spcPts val="1000"/>
              </a:spcAft>
              <a:defRPr sz="1600"/>
            </a:pPr>
            <a:r>
              <a:t>IPP ganha peso em 2023/2024.</a:t>
            </a:r>
          </a:p>
          <a:p>
            <a:pPr>
              <a:spcAft>
                <a:spcPts val="1000"/>
              </a:spcAft>
              <a:defRPr sz="1600"/>
            </a:pPr>
            <a:r>
              <a:t>O comportamento acadêmico e o engajamento aparecem juntos.</a:t>
            </a:r>
          </a:p>
          <a:p>
            <a:pPr>
              <a:spcAft>
                <a:spcPts val="1000"/>
              </a:spcAft>
              <a:defRPr sz="1600"/>
            </a:pPr>
            <a:r>
              <a:t>Coeficientes são associativos.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Mais dimensões fortes → maior INDE</a:t>
            </a:r>
          </a:p>
        </p:txBody>
      </p:sp>
      <p:pic>
        <p:nvPicPr>
          <p:cNvPr id="3" name="Picture 2" descr="07_multidimen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75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5240" y="1417320"/>
            <a:ext cx="3977639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O gradiente é monotônico em 2023 e 2024.</a:t>
            </a:r>
          </a:p>
          <a:p>
            <a:pPr>
              <a:spcAft>
                <a:spcPts val="1000"/>
              </a:spcAft>
              <a:defRPr sz="1600"/>
            </a:pPr>
            <a:r>
              <a:t>Em 2024: 0 dimensões acima da mediana → INDE ≈5,93.</a:t>
            </a:r>
          </a:p>
          <a:p>
            <a:pPr>
              <a:spcAft>
                <a:spcPts val="1000"/>
              </a:spcAft>
              <a:defRPr sz="1600"/>
            </a:pPr>
            <a:r>
              <a:t>4 dimensões → INDE ≈8,38.</a:t>
            </a:r>
          </a:p>
          <a:p>
            <a:pPr>
              <a:spcAft>
                <a:spcPts val="1000"/>
              </a:spcAft>
              <a:defRPr sz="1600"/>
            </a:pPr>
            <a:r>
              <a:t>Relação parcialmente mecânica, pois os indicadores compõem o INDE.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Pedras: melhora, mas com heterogeneidade</a:t>
            </a:r>
          </a:p>
        </p:txBody>
      </p:sp>
      <p:pic>
        <p:nvPicPr>
          <p:cNvPr id="3" name="Picture 2" descr="08_ped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75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5240" y="1417320"/>
            <a:ext cx="3977639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Topázio: 15,1% → 29,9% da base.</a:t>
            </a:r>
          </a:p>
          <a:p>
            <a:pPr>
              <a:spcAft>
                <a:spcPts val="1000"/>
              </a:spcAft>
              <a:defRPr sz="1600"/>
            </a:pPr>
            <a:r>
              <a:t>Ametista segue relevante.</a:t>
            </a:r>
          </a:p>
          <a:p>
            <a:pPr>
              <a:spcAft>
                <a:spcPts val="1000"/>
              </a:spcAft>
              <a:defRPr sz="1600"/>
            </a:pPr>
            <a:r>
              <a:t>Quartzo não desaparece; volta a crescer em 2024.</a:t>
            </a:r>
          </a:p>
          <a:p>
            <a:pPr>
              <a:spcAft>
                <a:spcPts val="1000"/>
              </a:spcAft>
              <a:defRPr sz="1600"/>
            </a:pPr>
            <a:r>
              <a:t>Cohort é necessário para interpretar impacto.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Cohort 2022–2024: a evidência mais limpa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468 alunos aparecem nos três ciclos.</a:t>
            </a:r>
          </a:p>
          <a:p>
            <a:pPr>
              <a:spcAft>
                <a:spcPts val="1000"/>
              </a:spcAft>
              <a:defRPr sz="1800"/>
            </a:pPr>
            <a:r>
              <a:t>Defasagem no cohort: 67,3% → 58,1% → 34,8%.</a:t>
            </a:r>
          </a:p>
          <a:p>
            <a:pPr>
              <a:spcAft>
                <a:spcPts val="1000"/>
              </a:spcAft>
              <a:defRPr sz="1800"/>
            </a:pPr>
            <a:r>
              <a:t>IAN: 6,60 → 7,08 → 8,25.</a:t>
            </a:r>
          </a:p>
          <a:p>
            <a:pPr>
              <a:spcAft>
                <a:spcPts val="1000"/>
              </a:spcAft>
              <a:defRPr sz="1800"/>
            </a:pPr>
            <a:r>
              <a:t>IDA: 6,67 → 6,78 → 6,22.</a:t>
            </a:r>
          </a:p>
          <a:p>
            <a:pPr>
              <a:spcAft>
                <a:spcPts val="1000"/>
              </a:spcAft>
              <a:defRPr sz="1800"/>
            </a:pPr>
            <a:r>
              <a:t>IEG: 8,49 → 8,74 → 7,51.</a:t>
            </a:r>
          </a:p>
          <a:p>
            <a:pPr>
              <a:spcAft>
                <a:spcPts val="1000"/>
              </a:spcAft>
              <a:defRPr sz="1800"/>
            </a:pPr>
            <a:r>
              <a:t>Conclusão: forte melhora em adequação/defasagem, mas não em todas as dimensões.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Machine Learning — alerta antecipado</a:t>
            </a:r>
          </a:p>
        </p:txBody>
      </p:sp>
      <p:pic>
        <p:nvPicPr>
          <p:cNvPr id="3" name="Picture 2" descr="09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66560" cy="375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5240" y="1417320"/>
            <a:ext cx="3977639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Treino: 2022→2023.</a:t>
            </a:r>
          </a:p>
          <a:p>
            <a:pPr>
              <a:spcAft>
                <a:spcPts val="1000"/>
              </a:spcAft>
              <a:defRPr sz="1600"/>
            </a:pPr>
            <a:r>
              <a:t>Teste: 2023→2024.</a:t>
            </a:r>
          </a:p>
          <a:p>
            <a:pPr>
              <a:spcAft>
                <a:spcPts val="1000"/>
              </a:spcAft>
              <a:defRPr sz="1600"/>
            </a:pPr>
            <a:r>
              <a:t>AUC = 0,713 aproximadamente.</a:t>
            </a:r>
          </a:p>
          <a:p>
            <a:pPr>
              <a:spcAft>
                <a:spcPts val="1000"/>
              </a:spcAft>
              <a:defRPr sz="1600"/>
            </a:pPr>
            <a:r>
              <a:t>Features: IAN, IDA, IEG, IAA, IPS, IPV e Pedra.</a:t>
            </a:r>
          </a:p>
          <a:p>
            <a:pPr>
              <a:spcAft>
                <a:spcPts val="1000"/>
              </a:spcAft>
              <a:defRPr sz="1600"/>
            </a:pPr>
            <a:r>
              <a:t>INDE excluído para reduzir redundância com os próprios indicadores.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Probabilidade vira fila de prioridade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Threshold 30%: recall ≈62%, precision ≈62%.</a:t>
            </a:r>
          </a:p>
          <a:p>
            <a:pPr>
              <a:spcAft>
                <a:spcPts val="1000"/>
              </a:spcAft>
              <a:defRPr sz="1900"/>
            </a:pPr>
            <a:r>
              <a:t>Baixo &lt;30%: risco real ≈26%.</a:t>
            </a:r>
          </a:p>
          <a:p>
            <a:pPr>
              <a:spcAft>
                <a:spcPts val="1000"/>
              </a:spcAft>
              <a:defRPr sz="1900"/>
            </a:pPr>
            <a:r>
              <a:t>Médio 30–70%: risco real ≈56%.</a:t>
            </a:r>
          </a:p>
          <a:p>
            <a:pPr>
              <a:spcAft>
                <a:spcPts val="1000"/>
              </a:spcAft>
              <a:defRPr sz="1900"/>
            </a:pPr>
            <a:r>
              <a:t>Alto &gt;70%: risco real ≈85%.</a:t>
            </a:r>
          </a:p>
          <a:p>
            <a:pPr>
              <a:spcAft>
                <a:spcPts val="1000"/>
              </a:spcAft>
              <a:defRPr sz="1900"/>
            </a:pPr>
            <a:r>
              <a:t>Uso recomendado: priorização de acompanhamento, não diagnóstico.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Oportunidades de melhoria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1) Criar régua de risco por aluno com probabilidade e sinais explicativos.</a:t>
            </a:r>
          </a:p>
          <a:p>
            <a:pPr>
              <a:spcAft>
                <a:spcPts val="1000"/>
              </a:spcAft>
              <a:defRPr sz="1700"/>
            </a:pPr>
            <a:r>
              <a:t>2) Monitorar ΔIAN, ΔIDA, ΔIEG e ΔIPV.</a:t>
            </a:r>
          </a:p>
          <a:p>
            <a:pPr>
              <a:spcAft>
                <a:spcPts val="1000"/>
              </a:spcAft>
              <a:defRPr sz="1700"/>
            </a:pPr>
            <a:r>
              <a:t>3) Usar IAA–IDA para ações de metacognição.</a:t>
            </a:r>
          </a:p>
          <a:p>
            <a:pPr>
              <a:spcAft>
                <a:spcPts val="1000"/>
              </a:spcAft>
              <a:defRPr sz="1700"/>
            </a:pPr>
            <a:r>
              <a:t>4) Integrar IPS/IPP aos sinais acadêmicos.</a:t>
            </a:r>
          </a:p>
          <a:p>
            <a:pPr>
              <a:spcAft>
                <a:spcPts val="1000"/>
              </a:spcAft>
              <a:defRPr sz="1700"/>
            </a:pPr>
            <a:r>
              <a:t>5) Criar painéis por cohort, fase e Pedra.</a:t>
            </a:r>
          </a:p>
          <a:p>
            <a:pPr>
              <a:spcAft>
                <a:spcPts val="1000"/>
              </a:spcAft>
              <a:defRPr sz="1700"/>
            </a:pPr>
            <a:r>
              <a:t>6) Evoluir o ML com histórico de 3+ ciclos e dados textuais codificados.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 e limites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Base PEDE 2022–2024 + dicionário de dados.</a:t>
            </a:r>
          </a:p>
          <a:p>
            <a:pPr>
              <a:spcAft>
                <a:spcPts val="1000"/>
              </a:spcAft>
              <a:defRPr sz="1700"/>
            </a:pPr>
            <a:r>
              <a:t>Não há granularidade intranual para afirmar evolução mês a mês.</a:t>
            </a:r>
          </a:p>
          <a:p>
            <a:pPr>
              <a:spcAft>
                <a:spcPts val="1000"/>
              </a:spcAft>
              <a:defRPr sz="1700"/>
            </a:pPr>
            <a:r>
              <a:t>Não há grupo controle; não é uma avaliação causal do programa.</a:t>
            </a:r>
          </a:p>
          <a:p>
            <a:pPr>
              <a:spcAft>
                <a:spcPts val="1000"/>
              </a:spcAft>
              <a:defRPr sz="1700"/>
            </a:pPr>
            <a:r>
              <a:t>Validação do ML é temporal, evitando misturar passado e futuro.</a:t>
            </a:r>
          </a:p>
          <a:p>
            <a:pPr>
              <a:spcAft>
                <a:spcPts val="1000"/>
              </a:spcAft>
              <a:defRPr sz="1700"/>
            </a:pPr>
            <a:r>
              <a:t>Severidade da Defasagem foi definida analiticamente neste estudo.</a:t>
            </a:r>
          </a:p>
          <a:p>
            <a:pPr>
              <a:spcAft>
                <a:spcPts val="1000"/>
              </a:spcAft>
              <a:defRPr sz="1700"/>
            </a:pPr>
            <a:r>
              <a:t>Resultados devem orientar investigação e intervenção, não substituir avaliação pedagógica.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